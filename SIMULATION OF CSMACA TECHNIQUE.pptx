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Public Sans" charset="1" panose="00000000000000000000"/>
      <p:regular r:id="rId38"/>
    </p:embeddedFont>
    <p:embeddedFont>
      <p:font typeface="K2D Bold" charset="1" panose="00000800000000000000"/>
      <p:regular r:id="rId39"/>
    </p:embeddedFont>
    <p:embeddedFont>
      <p:font typeface="Public Sans Bold" charset="1" panose="0000000000000000000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8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804353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6"/>
                </a:lnTo>
                <a:lnTo>
                  <a:pt x="0" y="3608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492346"/>
            <a:ext cx="182880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2A2E3A"/>
                </a:solidFill>
                <a:latin typeface="Public Sans"/>
                <a:ea typeface="Public Sans"/>
                <a:cs typeface="Public Sans"/>
                <a:sym typeface="Public Sans"/>
              </a:rPr>
              <a:t>PROJECT REPORT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5095875"/>
            <a:ext cx="18288000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10499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SIMULATION OF </a:t>
            </a:r>
          </a:p>
          <a:p>
            <a:pPr algn="ctr">
              <a:lnSpc>
                <a:spcPts val="12719"/>
              </a:lnSpc>
            </a:pPr>
            <a:r>
              <a:rPr lang="en-US" sz="10599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CSMA/CA TECHNIQUE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179612" y="1804353"/>
            <a:ext cx="3797526" cy="1254930"/>
          </a:xfrm>
          <a:custGeom>
            <a:avLst/>
            <a:gdLst/>
            <a:ahLst/>
            <a:cxnLst/>
            <a:rect r="r" b="b" t="t" l="l"/>
            <a:pathLst>
              <a:path h="1254930" w="3797526">
                <a:moveTo>
                  <a:pt x="0" y="0"/>
                </a:moveTo>
                <a:lnTo>
                  <a:pt x="3797526" y="0"/>
                </a:lnTo>
                <a:lnTo>
                  <a:pt x="3797526" y="1254930"/>
                </a:lnTo>
                <a:lnTo>
                  <a:pt x="0" y="1254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-21212"/>
            <a:ext cx="18288000" cy="17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Vietnam National University Ho Chi Minh</a:t>
            </a:r>
          </a:p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University of Science</a:t>
            </a:r>
          </a:p>
          <a:p>
            <a:pPr algn="ctr">
              <a:lnSpc>
                <a:spcPts val="4680"/>
              </a:lnSpc>
            </a:pPr>
            <a:r>
              <a:rPr lang="en-US" sz="3900" b="true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Faculty of Electronics - Telecommunications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268838"/>
            <a:ext cx="18288000" cy="8018162"/>
            <a:chOff x="0" y="0"/>
            <a:chExt cx="4816593" cy="2111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111779"/>
            </a:xfrm>
            <a:custGeom>
              <a:avLst/>
              <a:gdLst/>
              <a:ahLst/>
              <a:cxnLst/>
              <a:rect r="r" b="b" t="t" l="l"/>
              <a:pathLst>
                <a:path h="211177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111779"/>
                  </a:lnTo>
                  <a:lnTo>
                    <a:pt x="0" y="211177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16593" cy="21784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33203" y="967874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262068" y="-850323"/>
            <a:ext cx="18550068" cy="3119161"/>
            <a:chOff x="0" y="0"/>
            <a:chExt cx="24733424" cy="4158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112527" y="34130"/>
              <a:ext cx="1772719" cy="1772719"/>
            </a:xfrm>
            <a:custGeom>
              <a:avLst/>
              <a:gdLst/>
              <a:ahLst/>
              <a:cxnLst/>
              <a:rect r="r" b="b" t="t" l="l"/>
              <a:pathLst>
                <a:path h="1772719" w="1772719">
                  <a:moveTo>
                    <a:pt x="0" y="0"/>
                  </a:moveTo>
                  <a:lnTo>
                    <a:pt x="1772719" y="0"/>
                  </a:lnTo>
                  <a:lnTo>
                    <a:pt x="1772719" y="1772719"/>
                  </a:lnTo>
                  <a:lnTo>
                    <a:pt x="0" y="17727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206536" y="0"/>
              <a:ext cx="24526888" cy="4114800"/>
              <a:chOff x="0" y="0"/>
              <a:chExt cx="4844817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84481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844817">
                    <a:moveTo>
                      <a:pt x="0" y="0"/>
                    </a:moveTo>
                    <a:lnTo>
                      <a:pt x="4844817" y="0"/>
                    </a:lnTo>
                    <a:lnTo>
                      <a:pt x="4844817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66675"/>
                <a:ext cx="4844817" cy="879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34130"/>
              <a:ext cx="24733424" cy="4124752"/>
              <a:chOff x="0" y="0"/>
              <a:chExt cx="24733424" cy="4124752"/>
            </a:xfrm>
          </p:grpSpPr>
          <p:pic>
            <p:nvPicPr>
              <p:cNvPr name="Picture 12" id="12"/>
              <p:cNvPicPr>
                <a:picLocks noChangeAspect="true"/>
              </p:cNvPicPr>
              <p:nvPr/>
            </p:nvPicPr>
            <p:blipFill>
              <a:blip r:embed="rId6">
                <a:alphaModFix amt="14000"/>
              </a:blip>
              <a:srcRect l="0" t="30901" r="0" b="44067"/>
              <a:stretch>
                <a:fillRect/>
              </a:stretch>
            </p:blipFill>
            <p:spPr>
              <a:xfrm flipH="false" flipV="false">
                <a:off x="0" y="0"/>
                <a:ext cx="24733424" cy="4124752"/>
              </a:xfrm>
              <a:prstGeom prst="rect">
                <a:avLst/>
              </a:prstGeom>
            </p:spPr>
          </p:pic>
        </p:grpSp>
        <p:sp>
          <p:nvSpPr>
            <p:cNvPr name="TextBox 13" id="13"/>
            <p:cNvSpPr txBox="true"/>
            <p:nvPr/>
          </p:nvSpPr>
          <p:spPr>
            <a:xfrm rot="0">
              <a:off x="7617129" y="1435104"/>
              <a:ext cx="9848590" cy="16933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400"/>
                </a:lnSpc>
              </a:pPr>
              <a:r>
                <a:rPr lang="en-US" b="true" sz="8000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NỘI DUNG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03204" y="2422515"/>
            <a:ext cx="9681593" cy="7102556"/>
            <a:chOff x="0" y="0"/>
            <a:chExt cx="12908790" cy="947007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2908790" cy="2067077"/>
              <a:chOff x="0" y="0"/>
              <a:chExt cx="2287286" cy="36626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85725"/>
                <a:ext cx="2287286" cy="4519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879"/>
                  </a:lnSpc>
                </a:pPr>
                <a:r>
                  <a:rPr lang="en-US" b="true" sz="4199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 GIỚI THIỆU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07504" y="389341"/>
              <a:ext cx="1750599" cy="1312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63"/>
                </a:lnSpc>
              </a:pPr>
              <a:r>
                <a:rPr lang="en-US" sz="5974" b="true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1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3842812"/>
              <a:ext cx="12908790" cy="2067077"/>
              <a:chOff x="0" y="0"/>
              <a:chExt cx="2287286" cy="36626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85725"/>
                <a:ext cx="2287286" cy="4519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879"/>
                  </a:lnSpc>
                </a:pPr>
                <a:r>
                  <a:rPr lang="en-US" b="true" sz="4199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PHƯƠNG THỨC MÔ PHỎNG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4232153"/>
              <a:ext cx="1750599" cy="1312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63"/>
                </a:lnSpc>
              </a:pPr>
              <a:r>
                <a:rPr lang="en-US" sz="5974" b="true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2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7402998"/>
              <a:ext cx="12908790" cy="2067077"/>
              <a:chOff x="0" y="0"/>
              <a:chExt cx="2287286" cy="36626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85725"/>
                <a:ext cx="2287286" cy="4519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879"/>
                  </a:lnSpc>
                </a:pPr>
                <a:r>
                  <a:rPr lang="en-US" b="true" sz="4199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KẾT LUẬN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7792339"/>
              <a:ext cx="1750599" cy="13121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363"/>
                </a:lnSpc>
              </a:pPr>
              <a:r>
                <a:rPr lang="en-US" sz="5974" b="true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58812" y="1637089"/>
            <a:ext cx="9484345" cy="7012822"/>
            <a:chOff x="0" y="0"/>
            <a:chExt cx="12645793" cy="935042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645793" cy="2024963"/>
              <a:chOff x="0" y="0"/>
              <a:chExt cx="2287286" cy="366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104775"/>
                <a:ext cx="2287286" cy="4710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420"/>
                  </a:lnSpc>
                </a:pPr>
                <a:r>
                  <a:rPr lang="en-US" b="true" sz="53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1. LÝ THUYẾT CSMA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7325466"/>
              <a:ext cx="12645793" cy="2024963"/>
              <a:chOff x="0" y="0"/>
              <a:chExt cx="2287286" cy="36626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04775"/>
                <a:ext cx="2287286" cy="4710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420"/>
                  </a:lnSpc>
                </a:pPr>
                <a:r>
                  <a:rPr lang="en-US" b="true" sz="53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3. MÔ TẢ HỆ THỐNG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663889"/>
              <a:ext cx="12645793" cy="2024963"/>
              <a:chOff x="0" y="0"/>
              <a:chExt cx="2287286" cy="36626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04775"/>
                <a:ext cx="2287286" cy="4710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7420"/>
                  </a:lnSpc>
                </a:pPr>
                <a:r>
                  <a:rPr lang="en-US" b="true" sz="53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2. LÝ THUYẾT CSMA/CA</a:t>
                </a:r>
              </a:p>
            </p:txBody>
          </p:sp>
        </p:grpSp>
      </p:grpSp>
      <p:sp>
        <p:nvSpPr>
          <p:cNvPr name="TextBox 13" id="13"/>
          <p:cNvSpPr txBox="true"/>
          <p:nvPr/>
        </p:nvSpPr>
        <p:spPr>
          <a:xfrm rot="0">
            <a:off x="292525" y="4483883"/>
            <a:ext cx="7900193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TỔNG QUAN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2525" y="3664733"/>
            <a:ext cx="5257301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000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PHẦN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5279" y="1847677"/>
            <a:ext cx="17404523" cy="9111390"/>
            <a:chOff x="0" y="0"/>
            <a:chExt cx="23206031" cy="1214851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3014644" cy="10986145"/>
              <a:chOff x="0" y="0"/>
              <a:chExt cx="4546102" cy="217010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546102" cy="2170103"/>
              </a:xfrm>
              <a:custGeom>
                <a:avLst/>
                <a:gdLst/>
                <a:ahLst/>
                <a:cxnLst/>
                <a:rect r="r" b="b" t="t" l="l"/>
                <a:pathLst>
                  <a:path h="2170103" w="4546102">
                    <a:moveTo>
                      <a:pt x="22875" y="0"/>
                    </a:moveTo>
                    <a:lnTo>
                      <a:pt x="4523228" y="0"/>
                    </a:lnTo>
                    <a:cubicBezTo>
                      <a:pt x="4535861" y="0"/>
                      <a:pt x="4546102" y="10241"/>
                      <a:pt x="4546102" y="22875"/>
                    </a:cubicBezTo>
                    <a:lnTo>
                      <a:pt x="4546102" y="2147228"/>
                    </a:lnTo>
                    <a:cubicBezTo>
                      <a:pt x="4546102" y="2159861"/>
                      <a:pt x="4535861" y="2170103"/>
                      <a:pt x="4523228" y="2170103"/>
                    </a:cubicBezTo>
                    <a:lnTo>
                      <a:pt x="22875" y="2170103"/>
                    </a:lnTo>
                    <a:cubicBezTo>
                      <a:pt x="10241" y="2170103"/>
                      <a:pt x="0" y="2159861"/>
                      <a:pt x="0" y="2147228"/>
                    </a:cubicBezTo>
                    <a:lnTo>
                      <a:pt x="0" y="22875"/>
                    </a:lnTo>
                    <a:cubicBezTo>
                      <a:pt x="0" y="10241"/>
                      <a:pt x="10241" y="0"/>
                      <a:pt x="22875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4546102" cy="22367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218143" y="201418"/>
              <a:ext cx="22987889" cy="119471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79" indent="-345439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1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Khá</a:t>
              </a:r>
              <a:r>
                <a:rPr lang="en-US" b="true" sz="31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 niệm: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CSMA (Carrier Sense Multiple Access) là g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iao thức cho phép nhiều thiết bị cùng truy cập một kênh truyền bằng cách </a:t>
              </a:r>
              <a:r>
                <a:rPr lang="en-US" b="true" sz="31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lắng nghe kênh trước khi truyền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.</a:t>
              </a:r>
            </a:p>
            <a:p>
              <a:pPr algn="l" marL="690879" indent="-345439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1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Nguyên</a:t>
              </a:r>
              <a:r>
                <a:rPr lang="en-US" b="true" sz="31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lý hoạt động: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Trước khi truyền → lắng nghe kênh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Kênh bận → chờ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Kê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nh rảnh → truyền dữ liệu</a:t>
              </a:r>
            </a:p>
            <a:p>
              <a:pPr algn="l" marL="690879" indent="-345439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1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Mục tiêu: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Giảm va chạm 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Tăng hiệu quả truyền dữ liệu</a:t>
              </a:r>
            </a:p>
            <a:p>
              <a:pPr algn="l" marL="690879" indent="-345439" lvl="1">
                <a:lnSpc>
                  <a:spcPts val="44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1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Hạn</a:t>
              </a:r>
              <a:r>
                <a:rPr lang="en-US" b="true" sz="31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chế: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Không tránh được va chạm hoàn toàn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b="true" sz="31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+ 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Va chạm vẫn xảy ra do độ trễ lan truyền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</a:t>
              </a:r>
              <a:r>
                <a:rPr lang="en-US" sz="3199">
                  <a:solidFill>
                    <a:srgbClr val="FFDE59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1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Không phù hợp với mạng không dây (khó phát hiện collision)</a:t>
              </a: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</a:p>
            <a:p>
              <a:pPr algn="l">
                <a:lnSpc>
                  <a:spcPts val="44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LÝ THUYẾT</a:t>
            </a: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CSMA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2841" y="2221510"/>
            <a:ext cx="14342319" cy="7512053"/>
            <a:chOff x="0" y="0"/>
            <a:chExt cx="19123092" cy="1001607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123092" cy="10016070"/>
              <a:chOff x="0" y="0"/>
              <a:chExt cx="3777401" cy="197848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77401" cy="1978483"/>
              </a:xfrm>
              <a:custGeom>
                <a:avLst/>
                <a:gdLst/>
                <a:ahLst/>
                <a:cxnLst/>
                <a:rect r="r" b="b" t="t" l="l"/>
                <a:pathLst>
                  <a:path h="1978483" w="3777401">
                    <a:moveTo>
                      <a:pt x="27530" y="0"/>
                    </a:moveTo>
                    <a:lnTo>
                      <a:pt x="3749871" y="0"/>
                    </a:lnTo>
                    <a:cubicBezTo>
                      <a:pt x="3757173" y="0"/>
                      <a:pt x="3764175" y="2900"/>
                      <a:pt x="3769338" y="8063"/>
                    </a:cubicBezTo>
                    <a:cubicBezTo>
                      <a:pt x="3774500" y="13226"/>
                      <a:pt x="3777401" y="20228"/>
                      <a:pt x="3777401" y="27530"/>
                    </a:cubicBezTo>
                    <a:lnTo>
                      <a:pt x="3777401" y="1950954"/>
                    </a:lnTo>
                    <a:cubicBezTo>
                      <a:pt x="3777401" y="1966158"/>
                      <a:pt x="3765076" y="1978483"/>
                      <a:pt x="3749871" y="1978483"/>
                    </a:cubicBezTo>
                    <a:lnTo>
                      <a:pt x="27530" y="1978483"/>
                    </a:lnTo>
                    <a:cubicBezTo>
                      <a:pt x="12325" y="1978483"/>
                      <a:pt x="0" y="1966158"/>
                      <a:pt x="0" y="1950954"/>
                    </a:cubicBezTo>
                    <a:lnTo>
                      <a:pt x="0" y="27530"/>
                    </a:lnTo>
                    <a:cubicBezTo>
                      <a:pt x="0" y="12325"/>
                      <a:pt x="12325" y="0"/>
                      <a:pt x="27530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3777401" cy="20451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32816" y="-76200"/>
              <a:ext cx="17857460" cy="9260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b="true" sz="32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1. Giới thiệu CSMA/CA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CSMA/CA (Carrier Sense Multiple Access with Collision Avoidance) là phiên bản cải tiến của CSMA, được sử dụng chủ yếu trong mạng không dây (Wi-Fi – IEEE 802.11).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Khác với CSMA, CSMA/CA không chỉ lắng nghe kênh mà còn sử dụng các cơ chế để chủ động tránh va chạm trước khi xảy ra.</a:t>
              </a: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b="true" sz="32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2. Mục đích của CSMA/CA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Giảm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thiểu khả năng xảy ra va chạm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Tăng hiệu quả sử dụng kênh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Phù hợp với môi trường không dây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GIỚI</a:t>
            </a: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THIỆU CSMA/CA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GIỚI</a:t>
            </a: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THIỆU CSMA/CA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28135" y="2074245"/>
            <a:ext cx="16631730" cy="7331110"/>
            <a:chOff x="0" y="0"/>
            <a:chExt cx="22175640" cy="977481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405679"/>
              <a:ext cx="22175640" cy="9369135"/>
              <a:chOff x="0" y="0"/>
              <a:chExt cx="3777401" cy="159593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777401" cy="1595939"/>
              </a:xfrm>
              <a:custGeom>
                <a:avLst/>
                <a:gdLst/>
                <a:ahLst/>
                <a:cxnLst/>
                <a:rect r="r" b="b" t="t" l="l"/>
                <a:pathLst>
                  <a:path h="1595939" w="3777401">
                    <a:moveTo>
                      <a:pt x="27530" y="0"/>
                    </a:moveTo>
                    <a:lnTo>
                      <a:pt x="3749871" y="0"/>
                    </a:lnTo>
                    <a:cubicBezTo>
                      <a:pt x="3757173" y="0"/>
                      <a:pt x="3764175" y="2900"/>
                      <a:pt x="3769338" y="8063"/>
                    </a:cubicBezTo>
                    <a:cubicBezTo>
                      <a:pt x="3774500" y="13226"/>
                      <a:pt x="3777401" y="20228"/>
                      <a:pt x="3777401" y="27530"/>
                    </a:cubicBezTo>
                    <a:lnTo>
                      <a:pt x="3777401" y="1568410"/>
                    </a:lnTo>
                    <a:cubicBezTo>
                      <a:pt x="3777401" y="1583614"/>
                      <a:pt x="3765076" y="1595939"/>
                      <a:pt x="3749871" y="1595939"/>
                    </a:cubicBezTo>
                    <a:lnTo>
                      <a:pt x="27530" y="1595939"/>
                    </a:lnTo>
                    <a:cubicBezTo>
                      <a:pt x="12325" y="1595939"/>
                      <a:pt x="0" y="1583614"/>
                      <a:pt x="0" y="1568410"/>
                    </a:cubicBezTo>
                    <a:lnTo>
                      <a:pt x="0" y="27530"/>
                    </a:lnTo>
                    <a:cubicBezTo>
                      <a:pt x="0" y="12325"/>
                      <a:pt x="12325" y="0"/>
                      <a:pt x="27530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3777401" cy="16626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733830" y="-85725"/>
              <a:ext cx="20707979" cy="89731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357"/>
                </a:lnSpc>
                <a:spcBef>
                  <a:spcPct val="0"/>
                </a:spcBef>
              </a:pPr>
            </a:p>
            <a:p>
              <a:pPr algn="l">
                <a:lnSpc>
                  <a:spcPts val="5357"/>
                </a:lnSpc>
                <a:spcBef>
                  <a:spcPct val="0"/>
                </a:spcBef>
              </a:pPr>
              <a:r>
                <a:rPr lang="en-US" b="true" sz="3826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3. Nguyên lý hoạt động</a:t>
              </a:r>
            </a:p>
            <a:p>
              <a:pPr algn="l" marL="826196" indent="-413098" lvl="1">
                <a:lnSpc>
                  <a:spcPts val="53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26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Thiết bị lắng nghe kênh tr</a:t>
              </a:r>
              <a:r>
                <a:rPr lang="en-US" sz="3826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ước khi truyền</a:t>
              </a:r>
            </a:p>
            <a:p>
              <a:pPr algn="l" marL="826196" indent="-413098" lvl="1">
                <a:lnSpc>
                  <a:spcPts val="53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26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Nếu kênh bận → chờ</a:t>
              </a:r>
            </a:p>
            <a:p>
              <a:pPr algn="l" marL="826196" indent="-413098" lvl="1">
                <a:lnSpc>
                  <a:spcPts val="53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26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Nế</a:t>
              </a:r>
              <a:r>
                <a:rPr lang="en-US" sz="3826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 kênh rảnh → không truyền ngay mà:</a:t>
              </a:r>
            </a:p>
            <a:p>
              <a:pPr algn="l" marL="826196" indent="-413098" lvl="1">
                <a:lnSpc>
                  <a:spcPts val="53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26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Đợi một khoảng thời gian DIFS</a:t>
              </a:r>
            </a:p>
            <a:p>
              <a:pPr algn="l" marL="826196" indent="-413098" lvl="1">
                <a:lnSpc>
                  <a:spcPts val="535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826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Thực hiện backoff ngẫu nhiên</a:t>
              </a:r>
            </a:p>
            <a:p>
              <a:pPr algn="l">
                <a:lnSpc>
                  <a:spcPts val="5357"/>
                </a:lnSpc>
                <a:spcBef>
                  <a:spcPct val="0"/>
                </a:spcBef>
              </a:pPr>
            </a:p>
            <a:p>
              <a:pPr algn="l">
                <a:lnSpc>
                  <a:spcPts val="5357"/>
                </a:lnSpc>
                <a:spcBef>
                  <a:spcPct val="0"/>
                </a:spcBef>
              </a:pPr>
            </a:p>
            <a:p>
              <a:pPr algn="l">
                <a:lnSpc>
                  <a:spcPts val="5357"/>
                </a:lnSpc>
                <a:spcBef>
                  <a:spcPct val="0"/>
                </a:spcBef>
              </a:pP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931823" y="7145074"/>
              <a:ext cx="2924272" cy="1837417"/>
            </a:xfrm>
            <a:custGeom>
              <a:avLst/>
              <a:gdLst/>
              <a:ahLst/>
              <a:cxnLst/>
              <a:rect r="r" b="b" t="t" l="l"/>
              <a:pathLst>
                <a:path h="1837417" w="2924272">
                  <a:moveTo>
                    <a:pt x="0" y="0"/>
                  </a:moveTo>
                  <a:lnTo>
                    <a:pt x="2924272" y="0"/>
                  </a:lnTo>
                  <a:lnTo>
                    <a:pt x="2924272" y="1837418"/>
                  </a:lnTo>
                  <a:lnTo>
                    <a:pt x="0" y="1837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4042321" y="7059349"/>
              <a:ext cx="16367341" cy="1917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44"/>
                </a:lnSpc>
                <a:spcBef>
                  <a:spcPct val="0"/>
                </a:spcBef>
              </a:pPr>
              <a:r>
                <a:rPr lang="en-US" b="true" sz="4174">
                  <a:solidFill>
                    <a:srgbClr val="FFDE59"/>
                  </a:solidFill>
                  <a:latin typeface="K2D Bold"/>
                  <a:ea typeface="K2D Bold"/>
                  <a:cs typeface="K2D Bold"/>
                  <a:sym typeface="K2D Bold"/>
                </a:rPr>
                <a:t>Điều này giúp tránh việc nhiều thiết bị cùng truyền tại cùng một thời điểm.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12075" y="1656289"/>
            <a:ext cx="14342319" cy="8427225"/>
            <a:chOff x="0" y="0"/>
            <a:chExt cx="19123092" cy="112363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349836"/>
              <a:ext cx="19123092" cy="10886464"/>
              <a:chOff x="0" y="0"/>
              <a:chExt cx="3777401" cy="215041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77401" cy="2150413"/>
              </a:xfrm>
              <a:custGeom>
                <a:avLst/>
                <a:gdLst/>
                <a:ahLst/>
                <a:cxnLst/>
                <a:rect r="r" b="b" t="t" l="l"/>
                <a:pathLst>
                  <a:path h="2150413" w="3777401">
                    <a:moveTo>
                      <a:pt x="27530" y="0"/>
                    </a:moveTo>
                    <a:lnTo>
                      <a:pt x="3749871" y="0"/>
                    </a:lnTo>
                    <a:cubicBezTo>
                      <a:pt x="3757173" y="0"/>
                      <a:pt x="3764175" y="2900"/>
                      <a:pt x="3769338" y="8063"/>
                    </a:cubicBezTo>
                    <a:cubicBezTo>
                      <a:pt x="3774500" y="13226"/>
                      <a:pt x="3777401" y="20228"/>
                      <a:pt x="3777401" y="27530"/>
                    </a:cubicBezTo>
                    <a:lnTo>
                      <a:pt x="3777401" y="2122883"/>
                    </a:lnTo>
                    <a:cubicBezTo>
                      <a:pt x="3777401" y="2138087"/>
                      <a:pt x="3765076" y="2150413"/>
                      <a:pt x="3749871" y="2150413"/>
                    </a:cubicBezTo>
                    <a:lnTo>
                      <a:pt x="27530" y="2150413"/>
                    </a:lnTo>
                    <a:cubicBezTo>
                      <a:pt x="12325" y="2150413"/>
                      <a:pt x="0" y="2138087"/>
                      <a:pt x="0" y="2122883"/>
                    </a:cubicBezTo>
                    <a:lnTo>
                      <a:pt x="0" y="27530"/>
                    </a:lnTo>
                    <a:cubicBezTo>
                      <a:pt x="0" y="12325"/>
                      <a:pt x="12325" y="0"/>
                      <a:pt x="27530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3777401" cy="22170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32816" y="-76200"/>
              <a:ext cx="17857460" cy="10810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b="true" sz="32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4.</a:t>
              </a:r>
              <a:r>
                <a:rPr lang="en-US" b="true" sz="32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Cơ chế tránh va chạm</a:t>
              </a:r>
            </a:p>
            <a:p>
              <a:pPr algn="ctr">
                <a:lnSpc>
                  <a:spcPts val="4619"/>
                </a:lnSpc>
                <a:spcBef>
                  <a:spcPct val="0"/>
                </a:spcBef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CSMA/CA sử dụng ha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i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cơ chế chính để tránh va chạm:</a:t>
              </a: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b="true" sz="32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🔹 </a:t>
              </a:r>
              <a:r>
                <a:rPr lang="en-US" b="true" sz="32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Backoff ngẫu nhiên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Mỗi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thiết bị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chọn thời gian chờ ngẫu nhiên trước khi truyền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Gi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ảm xác suất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nhiều thiết bị truyền đồng thời</a:t>
              </a: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b="true" sz="32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🔹 </a:t>
              </a:r>
              <a:r>
                <a:rPr lang="en-US" b="true" sz="32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RTS/CTS (tùy chọn)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Thiết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bị gửi RTS trước khi truyền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Thiết bị nhận phản hồi CTS nếu kênh sẵn sàng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Sau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đó mới truyền DATA và nhận ACK</a:t>
              </a: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GIỚI</a:t>
            </a: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THIỆU CSMA/CA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65900" y="7850676"/>
            <a:ext cx="11460627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“Đặt trước” quyền sử dụng kênh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Giảm va chạm, đặc biệt trong trường hợp hidden node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372696" y="8317288"/>
            <a:ext cx="2193204" cy="1378063"/>
          </a:xfrm>
          <a:custGeom>
            <a:avLst/>
            <a:gdLst/>
            <a:ahLst/>
            <a:cxnLst/>
            <a:rect r="r" b="b" t="t" l="l"/>
            <a:pathLst>
              <a:path h="1378063" w="2193204">
                <a:moveTo>
                  <a:pt x="0" y="0"/>
                </a:moveTo>
                <a:lnTo>
                  <a:pt x="2193204" y="0"/>
                </a:lnTo>
                <a:lnTo>
                  <a:pt x="2193204" y="1378063"/>
                </a:lnTo>
                <a:lnTo>
                  <a:pt x="0" y="13780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72841" y="3612449"/>
            <a:ext cx="14342319" cy="3444878"/>
            <a:chOff x="0" y="0"/>
            <a:chExt cx="19123092" cy="459317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9123092" cy="4593170"/>
              <a:chOff x="0" y="0"/>
              <a:chExt cx="3777401" cy="90729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777401" cy="907293"/>
              </a:xfrm>
              <a:custGeom>
                <a:avLst/>
                <a:gdLst/>
                <a:ahLst/>
                <a:cxnLst/>
                <a:rect r="r" b="b" t="t" l="l"/>
                <a:pathLst>
                  <a:path h="907293" w="3777401">
                    <a:moveTo>
                      <a:pt x="27530" y="0"/>
                    </a:moveTo>
                    <a:lnTo>
                      <a:pt x="3749871" y="0"/>
                    </a:lnTo>
                    <a:cubicBezTo>
                      <a:pt x="3757173" y="0"/>
                      <a:pt x="3764175" y="2900"/>
                      <a:pt x="3769338" y="8063"/>
                    </a:cubicBezTo>
                    <a:cubicBezTo>
                      <a:pt x="3774500" y="13226"/>
                      <a:pt x="3777401" y="20228"/>
                      <a:pt x="3777401" y="27530"/>
                    </a:cubicBezTo>
                    <a:lnTo>
                      <a:pt x="3777401" y="879763"/>
                    </a:lnTo>
                    <a:cubicBezTo>
                      <a:pt x="3777401" y="894967"/>
                      <a:pt x="3765076" y="907293"/>
                      <a:pt x="3749871" y="907293"/>
                    </a:cubicBezTo>
                    <a:lnTo>
                      <a:pt x="27530" y="907293"/>
                    </a:lnTo>
                    <a:cubicBezTo>
                      <a:pt x="12325" y="907293"/>
                      <a:pt x="0" y="894967"/>
                      <a:pt x="0" y="879763"/>
                    </a:cubicBezTo>
                    <a:lnTo>
                      <a:pt x="0" y="27530"/>
                    </a:lnTo>
                    <a:cubicBezTo>
                      <a:pt x="0" y="12325"/>
                      <a:pt x="12325" y="0"/>
                      <a:pt x="27530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3777401" cy="97396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32816" y="-76200"/>
              <a:ext cx="17857460" cy="3837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  <a:r>
                <a:rPr lang="en-US" b="true" sz="32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5</a:t>
              </a:r>
              <a:r>
                <a:rPr lang="en-US" b="true" sz="32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. Hạn chế của CSMA/CA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Không loại bỏ hoàn toàn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va chạm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Tăng độ trễ do ba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ckoff và RTS/CTS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Hiệu quả phụ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thuộc vào tải mạng và cấu hình hệ thống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GIỚI</a:t>
            </a: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THIỆU CSMA/CA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MÔ TẢ HỆ THỐNG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45088" y="2565381"/>
            <a:ext cx="16997824" cy="6124491"/>
            <a:chOff x="0" y="0"/>
            <a:chExt cx="22663766" cy="816598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2663766" cy="8165988"/>
              <a:chOff x="0" y="0"/>
              <a:chExt cx="4476793" cy="161303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476793" cy="1613035"/>
              </a:xfrm>
              <a:custGeom>
                <a:avLst/>
                <a:gdLst/>
                <a:ahLst/>
                <a:cxnLst/>
                <a:rect r="r" b="b" t="t" l="l"/>
                <a:pathLst>
                  <a:path h="1613035" w="4476793">
                    <a:moveTo>
                      <a:pt x="23229" y="0"/>
                    </a:moveTo>
                    <a:lnTo>
                      <a:pt x="4453565" y="0"/>
                    </a:lnTo>
                    <a:cubicBezTo>
                      <a:pt x="4459725" y="0"/>
                      <a:pt x="4465634" y="2447"/>
                      <a:pt x="4469990" y="6804"/>
                    </a:cubicBezTo>
                    <a:cubicBezTo>
                      <a:pt x="4474346" y="11160"/>
                      <a:pt x="4476793" y="17068"/>
                      <a:pt x="4476793" y="23229"/>
                    </a:cubicBezTo>
                    <a:lnTo>
                      <a:pt x="4476793" y="1589806"/>
                    </a:lnTo>
                    <a:cubicBezTo>
                      <a:pt x="4476793" y="1595967"/>
                      <a:pt x="4474346" y="1601875"/>
                      <a:pt x="4469990" y="1606231"/>
                    </a:cubicBezTo>
                    <a:cubicBezTo>
                      <a:pt x="4465634" y="1610587"/>
                      <a:pt x="4459725" y="1613035"/>
                      <a:pt x="4453565" y="1613035"/>
                    </a:cubicBezTo>
                    <a:lnTo>
                      <a:pt x="23229" y="1613035"/>
                    </a:lnTo>
                    <a:cubicBezTo>
                      <a:pt x="10400" y="1613035"/>
                      <a:pt x="0" y="1602635"/>
                      <a:pt x="0" y="1589806"/>
                    </a:cubicBezTo>
                    <a:lnTo>
                      <a:pt x="0" y="23229"/>
                    </a:lnTo>
                    <a:cubicBezTo>
                      <a:pt x="0" y="17068"/>
                      <a:pt x="2447" y="11160"/>
                      <a:pt x="6804" y="6804"/>
                    </a:cubicBezTo>
                    <a:cubicBezTo>
                      <a:pt x="11160" y="2447"/>
                      <a:pt x="17068" y="0"/>
                      <a:pt x="23229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4476793" cy="16797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78469" y="117835"/>
              <a:ext cx="21706827" cy="7711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 node dùng chung 1 kênh không dây sử dụng CSMA/CA 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2 trường hợp: có/không sử dụng RTS/CTS (Request To Send / Clear To Send).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Mỗi node nghe kênh:</a:t>
              </a: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Luồng:</a:t>
              </a: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>
                <a:lnSpc>
                  <a:spcPts val="4619"/>
                </a:lnSpc>
                <a:spcBef>
                  <a:spcPct val="0"/>
                </a:spcBef>
              </a:pP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Backoff là random từ 0 đến 2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-1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614392" y="2419187"/>
              <a:ext cx="12930029" cy="2288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0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Bận → chờ</a:t>
              </a:r>
            </a:p>
            <a:p>
              <a:pPr algn="l">
                <a:lnSpc>
                  <a:spcPts val="4620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Rảnh → đợi DIFS (Distributed Interframe Space) </a:t>
              </a:r>
            </a:p>
            <a:p>
              <a:pPr algn="l">
                <a:lnSpc>
                  <a:spcPts val="4620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→ backoff ngẫu nhiên → truyền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614392" y="5492772"/>
              <a:ext cx="21049374" cy="14901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0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Không RTS: IDLE → DIFS → BACKOFF → DATA → ACK </a:t>
              </a:r>
            </a:p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Có RTS: IDLE → DIFS → BACKOFF → RTS → SIFS → CTS → SIFS → DATA → ACK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MÔ TẢ HỆ THỐNG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09682" y="2540676"/>
            <a:ext cx="14868635" cy="6244109"/>
            <a:chOff x="0" y="0"/>
            <a:chExt cx="19824847" cy="832547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9824847" cy="8325478"/>
              <a:chOff x="0" y="0"/>
              <a:chExt cx="3916019" cy="1644539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916019" cy="1644539"/>
              </a:xfrm>
              <a:custGeom>
                <a:avLst/>
                <a:gdLst/>
                <a:ahLst/>
                <a:cxnLst/>
                <a:rect r="r" b="b" t="t" l="l"/>
                <a:pathLst>
                  <a:path h="1644539" w="3916019">
                    <a:moveTo>
                      <a:pt x="26555" y="0"/>
                    </a:moveTo>
                    <a:lnTo>
                      <a:pt x="3889464" y="0"/>
                    </a:lnTo>
                    <a:cubicBezTo>
                      <a:pt x="3896507" y="0"/>
                      <a:pt x="3903261" y="2798"/>
                      <a:pt x="3908241" y="7778"/>
                    </a:cubicBezTo>
                    <a:cubicBezTo>
                      <a:pt x="3913221" y="12758"/>
                      <a:pt x="3916019" y="19512"/>
                      <a:pt x="3916019" y="26555"/>
                    </a:cubicBezTo>
                    <a:lnTo>
                      <a:pt x="3916019" y="1617984"/>
                    </a:lnTo>
                    <a:cubicBezTo>
                      <a:pt x="3916019" y="1625027"/>
                      <a:pt x="3913221" y="1631781"/>
                      <a:pt x="3908241" y="1636761"/>
                    </a:cubicBezTo>
                    <a:cubicBezTo>
                      <a:pt x="3903261" y="1641741"/>
                      <a:pt x="3896507" y="1644539"/>
                      <a:pt x="3889464" y="1644539"/>
                    </a:cubicBezTo>
                    <a:lnTo>
                      <a:pt x="26555" y="1644539"/>
                    </a:lnTo>
                    <a:cubicBezTo>
                      <a:pt x="19512" y="1644539"/>
                      <a:pt x="12758" y="1641741"/>
                      <a:pt x="7778" y="1636761"/>
                    </a:cubicBezTo>
                    <a:cubicBezTo>
                      <a:pt x="2798" y="1631781"/>
                      <a:pt x="0" y="1625027"/>
                      <a:pt x="0" y="1617984"/>
                    </a:cubicBezTo>
                    <a:lnTo>
                      <a:pt x="0" y="26555"/>
                    </a:lnTo>
                    <a:cubicBezTo>
                      <a:pt x="0" y="19512"/>
                      <a:pt x="2798" y="12758"/>
                      <a:pt x="7778" y="7778"/>
                    </a:cubicBezTo>
                    <a:cubicBezTo>
                      <a:pt x="12758" y="2798"/>
                      <a:pt x="19512" y="0"/>
                      <a:pt x="26555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3916019" cy="1711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45456" y="628562"/>
              <a:ext cx="19379391" cy="3063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Nếu xảy ra collision → node tăng</a:t>
              </a: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k và truyền lại.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Backoff random giúp tránh gửi cùng lúc,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RTS/CTS giúp giảm collision.</a:t>
              </a:r>
            </a:p>
            <a:p>
              <a:pPr algn="l" marL="712468" indent="-356234" lvl="1">
                <a:lnSpc>
                  <a:spcPts val="461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Tham số mô phỏng: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635805" y="3615602"/>
              <a:ext cx="18189042" cy="3814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20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Số node: 5 → 100</a:t>
              </a:r>
            </a:p>
            <a:p>
              <a:pPr algn="l">
                <a:lnSpc>
                  <a:spcPts val="4620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Packet size: 10 → 200</a:t>
              </a:r>
            </a:p>
            <a:p>
              <a:pPr algn="l">
                <a:lnSpc>
                  <a:spcPts val="4620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DIFS, SIFS (Short Interframe Space)</a:t>
              </a:r>
            </a:p>
            <a:p>
              <a:pPr algn="l">
                <a:lnSpc>
                  <a:spcPts val="4620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SIM_TIME (thời gian mô phỏng)</a:t>
              </a:r>
            </a:p>
            <a:p>
              <a:pPr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Đánh giá qua: Hoạt động từng node, Throughput, Delay, Collision rate.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96126" y="3190081"/>
            <a:ext cx="8684540" cy="3906838"/>
            <a:chOff x="0" y="0"/>
            <a:chExt cx="11579386" cy="5209117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579386" cy="1854200"/>
              <a:chOff x="0" y="0"/>
              <a:chExt cx="2287286" cy="36626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2287286" cy="4329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1. Lưu Đồ Thuật Toán CSMA/CA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3354917"/>
              <a:ext cx="11579386" cy="1854200"/>
              <a:chOff x="0" y="0"/>
              <a:chExt cx="2287286" cy="36626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7286" cy="366262"/>
              </a:xfrm>
              <a:custGeom>
                <a:avLst/>
                <a:gdLst/>
                <a:ahLst/>
                <a:cxnLst/>
                <a:rect r="r" b="b" t="t" l="l"/>
                <a:pathLst>
                  <a:path h="366262" w="2287286">
                    <a:moveTo>
                      <a:pt x="45464" y="0"/>
                    </a:moveTo>
                    <a:lnTo>
                      <a:pt x="2241822" y="0"/>
                    </a:lnTo>
                    <a:cubicBezTo>
                      <a:pt x="2266931" y="0"/>
                      <a:pt x="2287286" y="20355"/>
                      <a:pt x="2287286" y="45464"/>
                    </a:cubicBezTo>
                    <a:lnTo>
                      <a:pt x="2287286" y="320797"/>
                    </a:lnTo>
                    <a:cubicBezTo>
                      <a:pt x="2287286" y="332855"/>
                      <a:pt x="2282496" y="344419"/>
                      <a:pt x="2273970" y="352945"/>
                    </a:cubicBezTo>
                    <a:cubicBezTo>
                      <a:pt x="2265444" y="361472"/>
                      <a:pt x="2253880" y="366262"/>
                      <a:pt x="2241822" y="366262"/>
                    </a:cubicBezTo>
                    <a:lnTo>
                      <a:pt x="45464" y="366262"/>
                    </a:lnTo>
                    <a:cubicBezTo>
                      <a:pt x="20355" y="366262"/>
                      <a:pt x="0" y="345907"/>
                      <a:pt x="0" y="320797"/>
                    </a:cubicBezTo>
                    <a:lnTo>
                      <a:pt x="0" y="45464"/>
                    </a:lnTo>
                    <a:cubicBezTo>
                      <a:pt x="0" y="20355"/>
                      <a:pt x="20355" y="0"/>
                      <a:pt x="45464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66675"/>
                <a:ext cx="2287286" cy="4329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5040"/>
                  </a:lnSpc>
                </a:pPr>
                <a:r>
                  <a:rPr lang="en-US" b="true" sz="3600">
                    <a:solidFill>
                      <a:srgbClr val="FFFFFF"/>
                    </a:solidFill>
                    <a:latin typeface="K2D Bold"/>
                    <a:ea typeface="K2D Bold"/>
                    <a:cs typeface="K2D Bold"/>
                    <a:sym typeface="K2D Bold"/>
                  </a:rPr>
                  <a:t>2. Kết Quả Mô Phỏng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113953" y="4363233"/>
            <a:ext cx="7900193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PHƯƠNG THỨC</a:t>
            </a:r>
          </a:p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MÔ PHỎNG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6881" y="3688656"/>
            <a:ext cx="743433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000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PHẦN 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96126" y="3190081"/>
            <a:ext cx="8684540" cy="1390650"/>
            <a:chOff x="0" y="0"/>
            <a:chExt cx="2287286" cy="366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7286" cy="366262"/>
            </a:xfrm>
            <a:custGeom>
              <a:avLst/>
              <a:gdLst/>
              <a:ahLst/>
              <a:cxnLst/>
              <a:rect r="r" b="b" t="t" l="l"/>
              <a:pathLst>
                <a:path h="366262" w="2287286">
                  <a:moveTo>
                    <a:pt x="45464" y="0"/>
                  </a:moveTo>
                  <a:lnTo>
                    <a:pt x="2241822" y="0"/>
                  </a:lnTo>
                  <a:cubicBezTo>
                    <a:pt x="2266931" y="0"/>
                    <a:pt x="2287286" y="20355"/>
                    <a:pt x="2287286" y="45464"/>
                  </a:cubicBezTo>
                  <a:lnTo>
                    <a:pt x="2287286" y="320797"/>
                  </a:lnTo>
                  <a:cubicBezTo>
                    <a:pt x="2287286" y="332855"/>
                    <a:pt x="2282496" y="344419"/>
                    <a:pt x="2273970" y="352945"/>
                  </a:cubicBezTo>
                  <a:cubicBezTo>
                    <a:pt x="2265444" y="361472"/>
                    <a:pt x="2253880" y="366262"/>
                    <a:pt x="2241822" y="366262"/>
                  </a:cubicBezTo>
                  <a:lnTo>
                    <a:pt x="45464" y="366262"/>
                  </a:lnTo>
                  <a:cubicBezTo>
                    <a:pt x="20355" y="366262"/>
                    <a:pt x="0" y="345907"/>
                    <a:pt x="0" y="320797"/>
                  </a:cubicBezTo>
                  <a:lnTo>
                    <a:pt x="0" y="45464"/>
                  </a:lnTo>
                  <a:cubicBezTo>
                    <a:pt x="0" y="20355"/>
                    <a:pt x="20355" y="0"/>
                    <a:pt x="45464" y="0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287286" cy="432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1. Lưu Đồ Thuật Toán CSMA/CA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96126" y="5706269"/>
            <a:ext cx="8684540" cy="1390650"/>
            <a:chOff x="0" y="0"/>
            <a:chExt cx="2287286" cy="3662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7286" cy="366262"/>
            </a:xfrm>
            <a:custGeom>
              <a:avLst/>
              <a:gdLst/>
              <a:ahLst/>
              <a:cxnLst/>
              <a:rect r="r" b="b" t="t" l="l"/>
              <a:pathLst>
                <a:path h="366262" w="2287286">
                  <a:moveTo>
                    <a:pt x="45464" y="0"/>
                  </a:moveTo>
                  <a:lnTo>
                    <a:pt x="2241822" y="0"/>
                  </a:lnTo>
                  <a:cubicBezTo>
                    <a:pt x="2266931" y="0"/>
                    <a:pt x="2287286" y="20355"/>
                    <a:pt x="2287286" y="45464"/>
                  </a:cubicBezTo>
                  <a:lnTo>
                    <a:pt x="2287286" y="320797"/>
                  </a:lnTo>
                  <a:cubicBezTo>
                    <a:pt x="2287286" y="332855"/>
                    <a:pt x="2282496" y="344419"/>
                    <a:pt x="2273970" y="352945"/>
                  </a:cubicBezTo>
                  <a:cubicBezTo>
                    <a:pt x="2265444" y="361472"/>
                    <a:pt x="2253880" y="366262"/>
                    <a:pt x="2241822" y="366262"/>
                  </a:cubicBezTo>
                  <a:lnTo>
                    <a:pt x="45464" y="366262"/>
                  </a:lnTo>
                  <a:cubicBezTo>
                    <a:pt x="20355" y="366262"/>
                    <a:pt x="0" y="345907"/>
                    <a:pt x="0" y="320797"/>
                  </a:cubicBezTo>
                  <a:lnTo>
                    <a:pt x="0" y="45464"/>
                  </a:lnTo>
                  <a:cubicBezTo>
                    <a:pt x="0" y="20355"/>
                    <a:pt x="20355" y="0"/>
                    <a:pt x="45464" y="0"/>
                  </a:cubicBezTo>
                  <a:close/>
                </a:path>
              </a:pathLst>
            </a:custGeom>
            <a:solidFill>
              <a:srgbClr val="153969">
                <a:alpha val="14902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287286" cy="432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FFFFFF">
                      <a:alpha val="14902"/>
                    </a:srgbClr>
                  </a:solidFill>
                  <a:latin typeface="K2D Bold"/>
                  <a:ea typeface="K2D Bold"/>
                  <a:cs typeface="K2D Bold"/>
                  <a:sym typeface="K2D Bold"/>
                </a:rPr>
                <a:t>2. Kết Quả Mô Phỏng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3953" y="4363233"/>
            <a:ext cx="7900193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PHƯƠNG THỨC</a:t>
            </a:r>
          </a:p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MÔ PHỎNG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6881" y="3688656"/>
            <a:ext cx="743433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000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PHẦN 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437836" cy="10287000"/>
          </a:xfrm>
          <a:custGeom>
            <a:avLst/>
            <a:gdLst/>
            <a:ahLst/>
            <a:cxnLst/>
            <a:rect r="r" b="b" t="t" l="l"/>
            <a:pathLst>
              <a:path h="10287000" w="10437836">
                <a:moveTo>
                  <a:pt x="0" y="0"/>
                </a:moveTo>
                <a:lnTo>
                  <a:pt x="10437836" y="0"/>
                </a:lnTo>
                <a:lnTo>
                  <a:pt x="104378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46167" y="3489962"/>
            <a:ext cx="7226521" cy="165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DIFS (Distributed Interframe Space) = 3 time slots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SIFS (Short Interframe Space) = 2 time slots</a:t>
            </a:r>
          </a:p>
          <a:p>
            <a:pPr algn="l">
              <a:lnSpc>
                <a:spcPts val="3360"/>
              </a:lnSpc>
            </a:pPr>
            <a:r>
              <a:rPr lang="en-US" sz="2400" b="true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 slot = 1 time slot</a:t>
            </a: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TB time = max(random(0, 2</a:t>
            </a:r>
            <a:r>
              <a:rPr lang="en-US" b="true" sz="24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k</a:t>
            </a:r>
            <a:r>
              <a:rPr lang="en-US" b="true" sz="24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 - 1)) / 2 * T slot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96126" y="3190081"/>
            <a:ext cx="8684540" cy="1390650"/>
            <a:chOff x="0" y="0"/>
            <a:chExt cx="2287286" cy="3662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7286" cy="366262"/>
            </a:xfrm>
            <a:custGeom>
              <a:avLst/>
              <a:gdLst/>
              <a:ahLst/>
              <a:cxnLst/>
              <a:rect r="r" b="b" t="t" l="l"/>
              <a:pathLst>
                <a:path h="366262" w="2287286">
                  <a:moveTo>
                    <a:pt x="45464" y="0"/>
                  </a:moveTo>
                  <a:lnTo>
                    <a:pt x="2241822" y="0"/>
                  </a:lnTo>
                  <a:cubicBezTo>
                    <a:pt x="2266931" y="0"/>
                    <a:pt x="2287286" y="20355"/>
                    <a:pt x="2287286" y="45464"/>
                  </a:cubicBezTo>
                  <a:lnTo>
                    <a:pt x="2287286" y="320797"/>
                  </a:lnTo>
                  <a:cubicBezTo>
                    <a:pt x="2287286" y="332855"/>
                    <a:pt x="2282496" y="344419"/>
                    <a:pt x="2273970" y="352945"/>
                  </a:cubicBezTo>
                  <a:cubicBezTo>
                    <a:pt x="2265444" y="361472"/>
                    <a:pt x="2253880" y="366262"/>
                    <a:pt x="2241822" y="366262"/>
                  </a:cubicBezTo>
                  <a:lnTo>
                    <a:pt x="45464" y="366262"/>
                  </a:lnTo>
                  <a:cubicBezTo>
                    <a:pt x="20355" y="366262"/>
                    <a:pt x="0" y="345907"/>
                    <a:pt x="0" y="320797"/>
                  </a:cubicBezTo>
                  <a:lnTo>
                    <a:pt x="0" y="45464"/>
                  </a:lnTo>
                  <a:cubicBezTo>
                    <a:pt x="0" y="20355"/>
                    <a:pt x="20355" y="0"/>
                    <a:pt x="45464" y="0"/>
                  </a:cubicBezTo>
                  <a:close/>
                </a:path>
              </a:pathLst>
            </a:custGeom>
            <a:solidFill>
              <a:srgbClr val="153969">
                <a:alpha val="1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2287286" cy="432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FFFFFF">
                      <a:alpha val="14902"/>
                    </a:srgbClr>
                  </a:solidFill>
                  <a:latin typeface="K2D Bold"/>
                  <a:ea typeface="K2D Bold"/>
                  <a:cs typeface="K2D Bold"/>
                  <a:sym typeface="K2D Bold"/>
                </a:rPr>
                <a:t>1. Lưu Đồ Thuật Toán CSMA/CA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896126" y="5706269"/>
            <a:ext cx="8684540" cy="1390650"/>
            <a:chOff x="0" y="0"/>
            <a:chExt cx="2287286" cy="3662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7286" cy="366262"/>
            </a:xfrm>
            <a:custGeom>
              <a:avLst/>
              <a:gdLst/>
              <a:ahLst/>
              <a:cxnLst/>
              <a:rect r="r" b="b" t="t" l="l"/>
              <a:pathLst>
                <a:path h="366262" w="2287286">
                  <a:moveTo>
                    <a:pt x="45464" y="0"/>
                  </a:moveTo>
                  <a:lnTo>
                    <a:pt x="2241822" y="0"/>
                  </a:lnTo>
                  <a:cubicBezTo>
                    <a:pt x="2266931" y="0"/>
                    <a:pt x="2287286" y="20355"/>
                    <a:pt x="2287286" y="45464"/>
                  </a:cubicBezTo>
                  <a:lnTo>
                    <a:pt x="2287286" y="320797"/>
                  </a:lnTo>
                  <a:cubicBezTo>
                    <a:pt x="2287286" y="332855"/>
                    <a:pt x="2282496" y="344419"/>
                    <a:pt x="2273970" y="352945"/>
                  </a:cubicBezTo>
                  <a:cubicBezTo>
                    <a:pt x="2265444" y="361472"/>
                    <a:pt x="2253880" y="366262"/>
                    <a:pt x="2241822" y="366262"/>
                  </a:cubicBezTo>
                  <a:lnTo>
                    <a:pt x="45464" y="366262"/>
                  </a:lnTo>
                  <a:cubicBezTo>
                    <a:pt x="20355" y="366262"/>
                    <a:pt x="0" y="345907"/>
                    <a:pt x="0" y="320797"/>
                  </a:cubicBezTo>
                  <a:lnTo>
                    <a:pt x="0" y="45464"/>
                  </a:lnTo>
                  <a:cubicBezTo>
                    <a:pt x="0" y="20355"/>
                    <a:pt x="20355" y="0"/>
                    <a:pt x="45464" y="0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287286" cy="432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FFFFFF"/>
                  </a:solidFill>
                  <a:latin typeface="K2D Bold"/>
                  <a:ea typeface="K2D Bold"/>
                  <a:cs typeface="K2D Bold"/>
                  <a:sym typeface="K2D Bold"/>
                </a:rPr>
                <a:t>2. Kết Quả Mô Phỏng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3953" y="4363233"/>
            <a:ext cx="7900193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true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PHƯƠNG THỨC</a:t>
            </a:r>
          </a:p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MÔ PHỎNG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6881" y="3688656"/>
            <a:ext cx="743433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000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PHẦN 2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65760"/>
            <a:ext cx="18288000" cy="9555480"/>
          </a:xfrm>
          <a:custGeom>
            <a:avLst/>
            <a:gdLst/>
            <a:ahLst/>
            <a:cxnLst/>
            <a:rect r="r" b="b" t="t" l="l"/>
            <a:pathLst>
              <a:path h="9555480" w="18288000">
                <a:moveTo>
                  <a:pt x="0" y="0"/>
                </a:moveTo>
                <a:lnTo>
                  <a:pt x="18288000" y="0"/>
                </a:lnTo>
                <a:lnTo>
                  <a:pt x="18288000" y="9555480"/>
                </a:lnTo>
                <a:lnTo>
                  <a:pt x="0" y="9555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88620"/>
            <a:ext cx="18288000" cy="9509760"/>
          </a:xfrm>
          <a:custGeom>
            <a:avLst/>
            <a:gdLst/>
            <a:ahLst/>
            <a:cxnLst/>
            <a:rect r="r" b="b" t="t" l="l"/>
            <a:pathLst>
              <a:path h="9509760" w="18288000">
                <a:moveTo>
                  <a:pt x="0" y="0"/>
                </a:moveTo>
                <a:lnTo>
                  <a:pt x="18288000" y="0"/>
                </a:lnTo>
                <a:lnTo>
                  <a:pt x="18288000" y="9509760"/>
                </a:lnTo>
                <a:lnTo>
                  <a:pt x="0" y="9509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539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20040"/>
            <a:ext cx="18288000" cy="9646920"/>
          </a:xfrm>
          <a:custGeom>
            <a:avLst/>
            <a:gdLst/>
            <a:ahLst/>
            <a:cxnLst/>
            <a:rect r="r" b="b" t="t" l="l"/>
            <a:pathLst>
              <a:path h="9646920" w="18288000">
                <a:moveTo>
                  <a:pt x="0" y="0"/>
                </a:moveTo>
                <a:lnTo>
                  <a:pt x="18288000" y="0"/>
                </a:lnTo>
                <a:lnTo>
                  <a:pt x="18288000" y="9646920"/>
                </a:lnTo>
                <a:lnTo>
                  <a:pt x="0" y="9646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25594" y="1656289"/>
            <a:ext cx="13836812" cy="8630711"/>
          </a:xfrm>
          <a:custGeom>
            <a:avLst/>
            <a:gdLst/>
            <a:ahLst/>
            <a:cxnLst/>
            <a:rect r="r" b="b" t="t" l="l"/>
            <a:pathLst>
              <a:path h="8630711" w="13836812">
                <a:moveTo>
                  <a:pt x="0" y="0"/>
                </a:moveTo>
                <a:lnTo>
                  <a:pt x="13836812" y="0"/>
                </a:lnTo>
                <a:lnTo>
                  <a:pt x="13836812" y="8630711"/>
                </a:lnTo>
                <a:lnTo>
                  <a:pt x="0" y="86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0" y="75165"/>
            <a:ext cx="18288000" cy="129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  <a:spcBef>
                <a:spcPct val="0"/>
              </a:spcBef>
            </a:pPr>
            <a:r>
              <a:rPr lang="en-US" b="true" sz="7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THÔNG LƯỢNG THEO SỐ NODE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656289"/>
            <a:ext cx="13836812" cy="8630711"/>
          </a:xfrm>
          <a:custGeom>
            <a:avLst/>
            <a:gdLst/>
            <a:ahLst/>
            <a:cxnLst/>
            <a:rect r="r" b="b" t="t" l="l"/>
            <a:pathLst>
              <a:path h="8630711" w="13836812">
                <a:moveTo>
                  <a:pt x="0" y="0"/>
                </a:moveTo>
                <a:lnTo>
                  <a:pt x="13836812" y="0"/>
                </a:lnTo>
                <a:lnTo>
                  <a:pt x="13836812" y="8630711"/>
                </a:lnTo>
                <a:lnTo>
                  <a:pt x="0" y="86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0" y="75165"/>
            <a:ext cx="18288000" cy="129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  <a:spcBef>
                <a:spcPct val="0"/>
              </a:spcBef>
            </a:pPr>
            <a:r>
              <a:rPr lang="en-US" b="true" sz="7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THÔNG LƯỢNG THEO SỐ NODE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52123" y="2347699"/>
            <a:ext cx="4235877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Ít node: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Va chạm thấp → RTS/CTS tạo overhead (RTS, CTS, SIFS) → giảm thông lượng</a:t>
            </a:r>
          </a:p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Nhiều node (&gt;= 20):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Va chạm tăng (đặc biệt có hidden node) → RTS/CTS giảm va chạm → tăng thông lượng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3213" y="1656289"/>
            <a:ext cx="13781575" cy="8630711"/>
          </a:xfrm>
          <a:custGeom>
            <a:avLst/>
            <a:gdLst/>
            <a:ahLst/>
            <a:cxnLst/>
            <a:rect r="r" b="b" t="t" l="l"/>
            <a:pathLst>
              <a:path h="8630711" w="13781575">
                <a:moveTo>
                  <a:pt x="0" y="0"/>
                </a:moveTo>
                <a:lnTo>
                  <a:pt x="13781574" y="0"/>
                </a:lnTo>
                <a:lnTo>
                  <a:pt x="13781574" y="8630711"/>
                </a:lnTo>
                <a:lnTo>
                  <a:pt x="0" y="86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0" y="75165"/>
            <a:ext cx="18288000" cy="129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  <a:spcBef>
                <a:spcPct val="0"/>
              </a:spcBef>
            </a:pPr>
            <a:r>
              <a:rPr lang="en-US" b="true" sz="7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TỈ LỆ VA CHẠM THEO SỐ NODE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656289"/>
            <a:ext cx="13781575" cy="8630711"/>
          </a:xfrm>
          <a:custGeom>
            <a:avLst/>
            <a:gdLst/>
            <a:ahLst/>
            <a:cxnLst/>
            <a:rect r="r" b="b" t="t" l="l"/>
            <a:pathLst>
              <a:path h="8630711" w="13781575">
                <a:moveTo>
                  <a:pt x="0" y="0"/>
                </a:moveTo>
                <a:lnTo>
                  <a:pt x="13781575" y="0"/>
                </a:lnTo>
                <a:lnTo>
                  <a:pt x="13781575" y="8630711"/>
                </a:lnTo>
                <a:lnTo>
                  <a:pt x="0" y="86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0" y="75165"/>
            <a:ext cx="18288000" cy="129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  <a:spcBef>
                <a:spcPct val="0"/>
              </a:spcBef>
            </a:pPr>
            <a:r>
              <a:rPr lang="en-US" b="true" sz="7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TỈ LỆ VA CHẠM THEO SỐ NODE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49039" y="2347699"/>
            <a:ext cx="4338961" cy="7181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Ít node: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Va chạm thấp → RTS/CTS không khác biệt nhiều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Nhiều node (&gt;= 20):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+ </a:t>
            </a:r>
            <a:r>
              <a:rPr lang="en-US" b="true" sz="3399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Va chạm tăng mạnh (đặc biệt có hidden node)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+ No RTS: va chạm cao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RTS/CTS: giảm collision rõ rệt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48164" y="1656289"/>
            <a:ext cx="13591671" cy="8630711"/>
          </a:xfrm>
          <a:custGeom>
            <a:avLst/>
            <a:gdLst/>
            <a:ahLst/>
            <a:cxnLst/>
            <a:rect r="r" b="b" t="t" l="l"/>
            <a:pathLst>
              <a:path h="8630711" w="13591671">
                <a:moveTo>
                  <a:pt x="0" y="0"/>
                </a:moveTo>
                <a:lnTo>
                  <a:pt x="13591672" y="0"/>
                </a:lnTo>
                <a:lnTo>
                  <a:pt x="13591672" y="8630711"/>
                </a:lnTo>
                <a:lnTo>
                  <a:pt x="0" y="86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0" y="75165"/>
            <a:ext cx="18288000" cy="129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  <a:spcBef>
                <a:spcPct val="0"/>
              </a:spcBef>
            </a:pPr>
            <a:r>
              <a:rPr lang="en-US" b="true" sz="7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ĐỘ TRỄ THEO SỐ NODE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656289"/>
            <a:ext cx="13227144" cy="8630711"/>
          </a:xfrm>
          <a:custGeom>
            <a:avLst/>
            <a:gdLst/>
            <a:ahLst/>
            <a:cxnLst/>
            <a:rect r="r" b="b" t="t" l="l"/>
            <a:pathLst>
              <a:path h="8630711" w="13227144">
                <a:moveTo>
                  <a:pt x="0" y="0"/>
                </a:moveTo>
                <a:lnTo>
                  <a:pt x="13227144" y="0"/>
                </a:lnTo>
                <a:lnTo>
                  <a:pt x="13227144" y="8630711"/>
                </a:lnTo>
                <a:lnTo>
                  <a:pt x="0" y="86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0" y="75165"/>
            <a:ext cx="18288000" cy="129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  <a:spcBef>
                <a:spcPct val="0"/>
              </a:spcBef>
            </a:pPr>
            <a:r>
              <a:rPr lang="en-US" b="true" sz="7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ĐỘ TRỄ THEO SỐ NODE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91671" y="2884170"/>
            <a:ext cx="4696329" cy="637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Ít node: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Tranh chấp thấp → truyền nhanh, RTS/CTS tạo overhead → độ trễ cao hơn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Nhiều node (&gt;= 30):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+ (No RTS): va chạm nhiều → truyền lại → độ trễ tăng mạnh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+ RTS/CTS giảm collision → giảm độ trễ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30428" y="1656289"/>
            <a:ext cx="13227144" cy="8630711"/>
          </a:xfrm>
          <a:custGeom>
            <a:avLst/>
            <a:gdLst/>
            <a:ahLst/>
            <a:cxnLst/>
            <a:rect r="r" b="b" t="t" l="l"/>
            <a:pathLst>
              <a:path h="8630711" w="13227144">
                <a:moveTo>
                  <a:pt x="0" y="0"/>
                </a:moveTo>
                <a:lnTo>
                  <a:pt x="13227144" y="0"/>
                </a:lnTo>
                <a:lnTo>
                  <a:pt x="13227144" y="8630711"/>
                </a:lnTo>
                <a:lnTo>
                  <a:pt x="0" y="86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0" y="94215"/>
            <a:ext cx="182880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THÔNG LƯỢNG THEO KÍCH THƯỚC GÓI TIN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591671" y="2170217"/>
            <a:ext cx="4696329" cy="7536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Packet nhỏ: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Overhead RTS/CTS lớn → throughput thấp hơn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→ No RTS tốt hơn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Packet trung bình: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DATA chiếm ưu thế → hai cơ chế gần như bằng nhau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Packet lớn: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Collision gây mất gói lớn → RTS/CTS tránh va chạm → throughput cao hơn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1656289"/>
            <a:ext cx="13227144" cy="8630711"/>
          </a:xfrm>
          <a:custGeom>
            <a:avLst/>
            <a:gdLst/>
            <a:ahLst/>
            <a:cxnLst/>
            <a:rect r="r" b="b" t="t" l="l"/>
            <a:pathLst>
              <a:path h="8630711" w="13227144">
                <a:moveTo>
                  <a:pt x="0" y="0"/>
                </a:moveTo>
                <a:lnTo>
                  <a:pt x="13227144" y="0"/>
                </a:lnTo>
                <a:lnTo>
                  <a:pt x="13227144" y="8630711"/>
                </a:lnTo>
                <a:lnTo>
                  <a:pt x="0" y="86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0" y="94215"/>
            <a:ext cx="182880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THÔNG LƯỢNG THEO KÍCH THƯỚC GÓI TIN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55496" y="1656289"/>
            <a:ext cx="13459199" cy="8630711"/>
          </a:xfrm>
          <a:custGeom>
            <a:avLst/>
            <a:gdLst/>
            <a:ahLst/>
            <a:cxnLst/>
            <a:rect r="r" b="b" t="t" l="l"/>
            <a:pathLst>
              <a:path h="8630711" w="13459199">
                <a:moveTo>
                  <a:pt x="0" y="0"/>
                </a:moveTo>
                <a:lnTo>
                  <a:pt x="13459199" y="0"/>
                </a:lnTo>
                <a:lnTo>
                  <a:pt x="13459199" y="8630711"/>
                </a:lnTo>
                <a:lnTo>
                  <a:pt x="0" y="86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0" y="94215"/>
            <a:ext cx="182880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THÔNG LƯỢNG THEO KÍCH THƯỚC GÓI TIN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656289"/>
            <a:ext cx="13459199" cy="8630711"/>
          </a:xfrm>
          <a:custGeom>
            <a:avLst/>
            <a:gdLst/>
            <a:ahLst/>
            <a:cxnLst/>
            <a:rect r="r" b="b" t="t" l="l"/>
            <a:pathLst>
              <a:path h="8630711" w="13459199">
                <a:moveTo>
                  <a:pt x="0" y="0"/>
                </a:moveTo>
                <a:lnTo>
                  <a:pt x="13459199" y="0"/>
                </a:lnTo>
                <a:lnTo>
                  <a:pt x="13459199" y="8630711"/>
                </a:lnTo>
                <a:lnTo>
                  <a:pt x="0" y="8630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0" y="94215"/>
            <a:ext cx="18288000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THÔNG LƯỢNG THEO KÍCH THƯỚC GÓI TIN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3161" y="2218794"/>
            <a:ext cx="4483452" cy="74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+ </a:t>
            </a:r>
            <a:r>
              <a:rPr lang="en-US" b="true" sz="30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Không phụ thuộc trực tiếp vào packet size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+</a:t>
            </a:r>
            <a:r>
              <a:rPr lang="en-US" b="true" sz="30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Va chạm xảy ra trong giai đoạn tranh chấp kênh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+</a:t>
            </a:r>
            <a:r>
              <a:rPr lang="en-US" b="true" sz="30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Packet size ảnh hưởng gián tiếp đến hiệu suất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+</a:t>
            </a:r>
            <a:r>
              <a:rPr lang="en-US" b="true" sz="30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Gói lớn → tổn thất khi collision cao hơn → RTS/CTS hiệu quả hơn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+</a:t>
            </a:r>
            <a:r>
              <a:rPr lang="en-US" b="true" sz="30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Lý thuyết: đường gần như hằng (constant)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0013"/>
                </a:solidFill>
                <a:latin typeface="K2D Bold"/>
                <a:ea typeface="K2D Bold"/>
                <a:cs typeface="K2D Bold"/>
                <a:sym typeface="K2D Bold"/>
              </a:rPr>
              <a:t>+</a:t>
            </a:r>
            <a:r>
              <a:rPr lang="en-US" b="true" sz="3000">
                <a:solidFill>
                  <a:srgbClr val="000000"/>
                </a:solidFill>
                <a:latin typeface="K2D Bold"/>
                <a:ea typeface="K2D Bold"/>
                <a:cs typeface="K2D Bold"/>
                <a:sym typeface="K2D Bold"/>
              </a:rPr>
              <a:t> Mô phỏng: dao động nhẹ do backoff ngẫu nhiên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01619" y="-1836715"/>
            <a:ext cx="13960430" cy="13960430"/>
          </a:xfrm>
          <a:custGeom>
            <a:avLst/>
            <a:gdLst/>
            <a:ahLst/>
            <a:cxnLst/>
            <a:rect r="r" b="b" t="t" l="l"/>
            <a:pathLst>
              <a:path h="13960430" w="13960430">
                <a:moveTo>
                  <a:pt x="0" y="0"/>
                </a:moveTo>
                <a:lnTo>
                  <a:pt x="13960431" y="0"/>
                </a:lnTo>
                <a:lnTo>
                  <a:pt x="13960431" y="13960430"/>
                </a:lnTo>
                <a:lnTo>
                  <a:pt x="0" y="13960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619" y="4483883"/>
            <a:ext cx="7565265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b="true" sz="8000">
                <a:solidFill>
                  <a:srgbClr val="FFDE59"/>
                </a:solidFill>
                <a:latin typeface="K2D Bold"/>
                <a:ea typeface="K2D Bold"/>
                <a:cs typeface="K2D Bold"/>
                <a:sym typeface="K2D Bold"/>
              </a:rPr>
              <a:t>KẾT LUẬN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2525" y="3664733"/>
            <a:ext cx="5257301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000">
                <a:solidFill>
                  <a:srgbClr val="2A2E3A"/>
                </a:solidFill>
                <a:latin typeface="K2D Bold"/>
                <a:ea typeface="K2D Bold"/>
                <a:cs typeface="K2D Bold"/>
                <a:sym typeface="K2D Bold"/>
              </a:rPr>
              <a:t>PHẦN 3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5279" y="1847677"/>
            <a:ext cx="17260983" cy="8239609"/>
            <a:chOff x="0" y="0"/>
            <a:chExt cx="4546102" cy="21701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46102" cy="2170103"/>
            </a:xfrm>
            <a:custGeom>
              <a:avLst/>
              <a:gdLst/>
              <a:ahLst/>
              <a:cxnLst/>
              <a:rect r="r" b="b" t="t" l="l"/>
              <a:pathLst>
                <a:path h="2170103" w="4546102">
                  <a:moveTo>
                    <a:pt x="22875" y="0"/>
                  </a:moveTo>
                  <a:lnTo>
                    <a:pt x="4523228" y="0"/>
                  </a:lnTo>
                  <a:cubicBezTo>
                    <a:pt x="4535861" y="0"/>
                    <a:pt x="4546102" y="10241"/>
                    <a:pt x="4546102" y="22875"/>
                  </a:cubicBezTo>
                  <a:lnTo>
                    <a:pt x="4546102" y="2147228"/>
                  </a:lnTo>
                  <a:cubicBezTo>
                    <a:pt x="4546102" y="2159861"/>
                    <a:pt x="4535861" y="2170103"/>
                    <a:pt x="4523228" y="2170103"/>
                  </a:cubicBezTo>
                  <a:lnTo>
                    <a:pt x="22875" y="2170103"/>
                  </a:lnTo>
                  <a:cubicBezTo>
                    <a:pt x="10241" y="2170103"/>
                    <a:pt x="0" y="2159861"/>
                    <a:pt x="0" y="2147228"/>
                  </a:cubicBezTo>
                  <a:lnTo>
                    <a:pt x="0" y="22875"/>
                  </a:lnTo>
                  <a:cubicBezTo>
                    <a:pt x="0" y="10241"/>
                    <a:pt x="10241" y="0"/>
                    <a:pt x="22875" y="0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546102" cy="2236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KẾT LUẬN CHÍNH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5279" y="2324100"/>
            <a:ext cx="17260983" cy="6934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Xây dựng mô hình mô phỏng giao thức CSMA/CA trong mạng không dây, với hai trường hợp: </a:t>
            </a:r>
            <a:r>
              <a:rPr lang="en-US" b="true" sz="3000">
                <a:solidFill>
                  <a:srgbClr val="FFDE5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có và không sử dụng RTS/CTS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Hiệu năng hệ thống phụ thuộc mạnh vào số lượng node và kích thước gói tin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DE5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Khi số node nhỏ: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</a:t>
            </a: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+ </a:t>
            </a: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Va chạm thấp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      + RTS/CTS làm giảm hiệu năng do tăng overhead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DE5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Khi số node lớn: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</a:t>
            </a: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+ </a:t>
            </a: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Mức độ tranh chấp kênh cao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      + RTS/CTS giúp giảm va chạm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      + Cải thiện throughput và delay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FFDE59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Khi kích thước gói lớn: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         </a:t>
            </a: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+ </a:t>
            </a: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RTS/CTS phát huy hiệu quả rõ rệt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         + Giảm chi phí truyền lại khi xảy ra va chạm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952418"/>
            <a:ext cx="18288000" cy="3608707"/>
          </a:xfrm>
          <a:custGeom>
            <a:avLst/>
            <a:gdLst/>
            <a:ahLst/>
            <a:cxnLst/>
            <a:rect r="r" b="b" t="t" l="l"/>
            <a:pathLst>
              <a:path h="3608707" w="18288000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471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2911"/>
            <a:ext cx="18288000" cy="13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HẠN CHẾ &amp; HƯỚNG PHÁT TRIỂN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661835" y="1847677"/>
            <a:ext cx="14964329" cy="8239609"/>
            <a:chOff x="0" y="0"/>
            <a:chExt cx="19952439" cy="1098614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9952439" cy="10986145"/>
              <a:chOff x="0" y="0"/>
              <a:chExt cx="3941223" cy="217010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941223" cy="2170103"/>
              </a:xfrm>
              <a:custGeom>
                <a:avLst/>
                <a:gdLst/>
                <a:ahLst/>
                <a:cxnLst/>
                <a:rect r="r" b="b" t="t" l="l"/>
                <a:pathLst>
                  <a:path h="2170103" w="3941223">
                    <a:moveTo>
                      <a:pt x="26385" y="0"/>
                    </a:moveTo>
                    <a:lnTo>
                      <a:pt x="3914837" y="0"/>
                    </a:lnTo>
                    <a:cubicBezTo>
                      <a:pt x="3929409" y="0"/>
                      <a:pt x="3941223" y="11813"/>
                      <a:pt x="3941223" y="26385"/>
                    </a:cubicBezTo>
                    <a:lnTo>
                      <a:pt x="3941223" y="2143717"/>
                    </a:lnTo>
                    <a:cubicBezTo>
                      <a:pt x="3941223" y="2158290"/>
                      <a:pt x="3929409" y="2170103"/>
                      <a:pt x="3914837" y="2170103"/>
                    </a:cubicBezTo>
                    <a:lnTo>
                      <a:pt x="26385" y="2170103"/>
                    </a:lnTo>
                    <a:cubicBezTo>
                      <a:pt x="11813" y="2170103"/>
                      <a:pt x="0" y="2158290"/>
                      <a:pt x="0" y="2143717"/>
                    </a:cubicBezTo>
                    <a:lnTo>
                      <a:pt x="0" y="26385"/>
                    </a:lnTo>
                    <a:cubicBezTo>
                      <a:pt x="0" y="11813"/>
                      <a:pt x="11813" y="0"/>
                      <a:pt x="26385" y="0"/>
                    </a:cubicBezTo>
                    <a:close/>
                  </a:path>
                </a:pathLst>
              </a:custGeom>
              <a:solidFill>
                <a:srgbClr val="153969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66675"/>
                <a:ext cx="3941223" cy="22367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0" y="296978"/>
              <a:ext cx="19952439" cy="10689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755647" indent="-377824" lvl="1">
                <a:lnSpc>
                  <a:spcPts val="4899"/>
                </a:lnSpc>
                <a:buFont typeface="Arial"/>
                <a:buChar char="•"/>
              </a:pPr>
              <a:r>
                <a:rPr lang="en-US" b="true" sz="34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Hạn chế:</a:t>
              </a:r>
            </a:p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+ </a:t>
              </a: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Chưa xét</a:t>
              </a: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vị trí node trong không gian</a:t>
              </a:r>
            </a:p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 + Chưa mô phỏng trực tiếp hiện tượng hidden node</a:t>
              </a:r>
            </a:p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 + Mô phỏng thống kê → chưa phản ánh đầy đủ môi trường thực</a:t>
              </a:r>
            </a:p>
            <a:p>
              <a:pPr algn="l" marL="755647" indent="-377824" lvl="1">
                <a:lnSpc>
                  <a:spcPts val="48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4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Hướng phát triển:</a:t>
              </a:r>
            </a:p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b="true" sz="34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</a:t>
              </a: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+ </a:t>
              </a: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Bổ sung yếu tố không gian</a:t>
              </a:r>
            </a:p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 + </a:t>
              </a: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Mô p</a:t>
              </a: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hỏng hidden node chính</a:t>
              </a: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xá</a:t>
              </a: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c hơn</a:t>
              </a:r>
            </a:p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 + Áp dụng RTS/CTS thích nghi theo điều kiện mạng</a:t>
              </a:r>
            </a:p>
            <a:p>
              <a:pPr algn="l" marL="755647" indent="-377824" lvl="1">
                <a:lnSpc>
                  <a:spcPts val="48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3499">
                  <a:solidFill>
                    <a:srgbClr val="FFDE59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Kết luận tổng quát:</a:t>
              </a:r>
            </a:p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b="true" sz="3499">
                  <a:solidFill>
                    <a:srgbClr val="FFFFFF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             </a:t>
              </a: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+ CSMA/CA là giao th</a:t>
              </a: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ức hiệu quả trong mạng không dây</a:t>
              </a:r>
            </a:p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 + RTS/CTS hiệu quả khi số node lớn, tải cao hoặc gói lớn</a:t>
              </a:r>
            </a:p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FFFFFF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             + Cần lựa chọn cấu hình phù hợp để đạt hiệu năng tối ưu</a:t>
              </a:r>
            </a:p>
            <a:p>
              <a:pPr algn="l">
                <a:lnSpc>
                  <a:spcPts val="489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07438" y="-2845897"/>
            <a:ext cx="15978794" cy="15978794"/>
          </a:xfrm>
          <a:custGeom>
            <a:avLst/>
            <a:gdLst/>
            <a:ahLst/>
            <a:cxnLst/>
            <a:rect r="r" b="b" t="t" l="l"/>
            <a:pathLst>
              <a:path h="15978794" w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1168969" y="1028700"/>
            <a:ext cx="1279574" cy="1279569"/>
            <a:chOff x="0" y="0"/>
            <a:chExt cx="6350000" cy="63499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0" t="-14308" r="0" b="-14308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1168969" y="7978731"/>
            <a:ext cx="1279574" cy="1279569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2142" t="0" r="-2142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168969" y="6241223"/>
            <a:ext cx="1279574" cy="1279569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 l="0" t="-8400" r="0" b="-840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168969" y="4503715"/>
            <a:ext cx="7119031" cy="1279569"/>
            <a:chOff x="0" y="0"/>
            <a:chExt cx="9492041" cy="1706092"/>
          </a:xfrm>
        </p:grpSpPr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0" y="0"/>
              <a:ext cx="1706099" cy="1706092"/>
              <a:chOff x="0" y="0"/>
              <a:chExt cx="6350000" cy="6349975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0" t="-35119" r="0" b="-35119"/>
                </a:stretch>
              </a:blip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06099" y="423363"/>
              <a:ext cx="7785942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true">
                  <a:solidFill>
                    <a:srgbClr val="153969"/>
                  </a:solidFill>
                  <a:latin typeface="K2D Bold"/>
                  <a:ea typeface="K2D Bold"/>
                  <a:cs typeface="K2D Bold"/>
                  <a:sym typeface="K2D Bold"/>
                </a:rPr>
                <a:t>GIAO HỮU LỰC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68969" y="2767685"/>
            <a:ext cx="7119031" cy="1279569"/>
            <a:chOff x="0" y="0"/>
            <a:chExt cx="9492041" cy="1706092"/>
          </a:xfrm>
        </p:grpSpPr>
        <p:grpSp>
          <p:nvGrpSpPr>
            <p:cNvPr name="Group 14" id="14"/>
            <p:cNvGrpSpPr>
              <a:grpSpLocks noChangeAspect="true"/>
            </p:cNvGrpSpPr>
            <p:nvPr/>
          </p:nvGrpSpPr>
          <p:grpSpPr>
            <a:xfrm rot="0">
              <a:off x="0" y="0"/>
              <a:ext cx="1706099" cy="1706092"/>
              <a:chOff x="0" y="0"/>
              <a:chExt cx="6350000" cy="6349975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l="0" t="-12211" r="0" b="-12211"/>
                </a:stretch>
              </a:blip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1706099" y="418115"/>
              <a:ext cx="7785942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 b="true">
                  <a:solidFill>
                    <a:srgbClr val="153969"/>
                  </a:solidFill>
                  <a:latin typeface="K2D Bold"/>
                  <a:ea typeface="K2D Bold"/>
                  <a:cs typeface="K2D Bold"/>
                  <a:sym typeface="K2D Bold"/>
                </a:rPr>
                <a:t>NGUYỄN HOÀNG PHÚC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86572" y="2213780"/>
            <a:ext cx="6278177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00"/>
              </a:lnSpc>
            </a:pPr>
            <a:r>
              <a:rPr lang="en-US" sz="9000" b="true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TEAM 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48543" y="1327172"/>
            <a:ext cx="583945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ĐẶNG BÁ TRẦN TRUNG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48543" y="6539695"/>
            <a:ext cx="583945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NGUYỄN TRỌNG THÀNH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48543" y="8379460"/>
            <a:ext cx="583945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153969"/>
                </a:solidFill>
                <a:latin typeface="K2D Bold"/>
                <a:ea typeface="K2D Bold"/>
                <a:cs typeface="K2D Bold"/>
                <a:sym typeface="K2D Bold"/>
              </a:rPr>
              <a:t>LÊ QUANG THÔNG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7166" y="0"/>
            <a:ext cx="18395166" cy="10287000"/>
            <a:chOff x="0" y="0"/>
            <a:chExt cx="484481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4817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44817">
                  <a:moveTo>
                    <a:pt x="0" y="0"/>
                  </a:moveTo>
                  <a:lnTo>
                    <a:pt x="4844817" y="0"/>
                  </a:lnTo>
                  <a:lnTo>
                    <a:pt x="484481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4844817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333203" y="9678747"/>
            <a:ext cx="1621594" cy="1621594"/>
          </a:xfrm>
          <a:custGeom>
            <a:avLst/>
            <a:gdLst/>
            <a:ahLst/>
            <a:cxnLst/>
            <a:rect r="r" b="b" t="t" l="l"/>
            <a:pathLst>
              <a:path h="1621594" w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1034" y="0"/>
            <a:ext cx="18550068" cy="10287000"/>
            <a:chOff x="0" y="0"/>
            <a:chExt cx="24733424" cy="137160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>
              <a:alphaModFix amt="14000"/>
            </a:blip>
            <a:srcRect l="0" t="1799" r="0" b="14965"/>
            <a:stretch>
              <a:fillRect/>
            </a:stretch>
          </p:blipFill>
          <p:spPr>
            <a:xfrm flipH="false" flipV="false">
              <a:off x="0" y="0"/>
              <a:ext cx="24733424" cy="13716000"/>
            </a:xfrm>
            <a:prstGeom prst="rect">
              <a:avLst/>
            </a:prstGeom>
          </p:spPr>
        </p:pic>
      </p:grpSp>
      <p:sp>
        <p:nvSpPr>
          <p:cNvPr name="Freeform 8" id="8"/>
          <p:cNvSpPr/>
          <p:nvPr/>
        </p:nvSpPr>
        <p:spPr>
          <a:xfrm flipH="false" flipV="false" rot="0">
            <a:off x="8479230" y="-664770"/>
            <a:ext cx="1329540" cy="1329540"/>
          </a:xfrm>
          <a:custGeom>
            <a:avLst/>
            <a:gdLst/>
            <a:ahLst/>
            <a:cxnLst/>
            <a:rect r="r" b="b" t="t" l="l"/>
            <a:pathLst>
              <a:path h="1329540" w="1329540">
                <a:moveTo>
                  <a:pt x="0" y="0"/>
                </a:moveTo>
                <a:lnTo>
                  <a:pt x="1329540" y="0"/>
                </a:lnTo>
                <a:lnTo>
                  <a:pt x="1329540" y="1329540"/>
                </a:lnTo>
                <a:lnTo>
                  <a:pt x="0" y="13295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18937" y="3248872"/>
            <a:ext cx="14050126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0"/>
              </a:lnSpc>
            </a:pPr>
            <a:r>
              <a:rPr lang="en-US" b="true" sz="8000">
                <a:solidFill>
                  <a:srgbClr val="FFFFFF"/>
                </a:solidFill>
                <a:latin typeface="K2D Bold"/>
                <a:ea typeface="K2D Bold"/>
                <a:cs typeface="K2D Bold"/>
                <a:sym typeface="K2D Bold"/>
              </a:rPr>
              <a:t>THANK YOU FOR LISTENING AND FOR YOUR FEEDBACKS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DAHGPvwRopg</dc:identifier>
  <dcterms:modified xsi:type="dcterms:W3CDTF">2011-08-01T06:04:30Z</dcterms:modified>
  <cp:revision>1</cp:revision>
  <dc:title>SIMULATION OF CSMA/CA TECHNIQUE</dc:title>
</cp:coreProperties>
</file>